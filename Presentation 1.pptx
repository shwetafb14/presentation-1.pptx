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6" dt="2026-08-15T23:07:05.067"/>
    <p1510:client id="{2885EAF0-3230-B21E-CB3D-8EA424029F59}" v="228" dt="2026-08-16T19:46:12.099"/>
    <p1510:client id="{2B645CA6-147B-AEE9-9DC9-D0FBFEFD481C}" v="387" dt="2026-08-15T22:38:07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72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FigureOut">
              <a:rPr lang="en-US" dirty="0"/>
              <a:t>8/16/2026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18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FigureOut">
              <a:rPr lang="en-US" dirty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7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8/16/2026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7994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9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8/16/2026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34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FigureOut">
              <a:rPr lang="en-US" dirty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36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346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FigureOut">
              <a:rPr lang="en-US" dirty="0"/>
              <a:t>8/16/2026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624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FigureOut">
              <a:rPr lang="en-US" dirty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61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FigureOut">
              <a:rPr lang="en-US" dirty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435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FigureOut">
              <a:rPr lang="en-US" dirty="0"/>
              <a:t>8/16/2026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9828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FigureOut">
              <a:rPr lang="en-US" dirty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6691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FigureOut">
              <a:rPr lang="en-US" dirty="0"/>
              <a:t>8/16/2026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42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FigureOut">
              <a:rPr lang="en-US" dirty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170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FigureOut">
              <a:rPr lang="en-US" dirty="0"/>
              <a:t>8/16/2026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177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8/16/2026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84917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8/16/2026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6814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FigureOut">
              <a:rPr lang="en-US" dirty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3267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FigureOut">
              <a:rPr lang="en-US" dirty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6952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FigureOut">
              <a:rPr lang="en-US" dirty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1945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FigureOut">
              <a:rPr lang="en-US" dirty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5132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FigureOut">
              <a:rPr lang="en-US" dirty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1110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FigureOut">
              <a:rPr lang="en-US" dirty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6934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8/16/2026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3491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FigureOut">
              <a:rPr lang="en-US" dirty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025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FigureOut">
              <a:rPr lang="en-US" dirty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543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3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FigureOut">
              <a:rPr lang="en-US" dirty="0"/>
              <a:pPr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02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0F24696-6EFA-FC1E-ACC6-F4761DFD907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411142-2B41-80F4-2694-A8817A26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57999"/>
          </a:xfrm>
        </p:spPr>
        <p:txBody>
          <a:bodyPr/>
          <a:lstStyle/>
          <a:p>
            <a:pPr algn="ctr"/>
            <a:r>
              <a:rPr lang="en-US"/>
              <a:t>  </a:t>
            </a:r>
            <a:br>
              <a:rPr lang="en-US"/>
            </a:br>
            <a:r>
              <a:rPr lang="en-US" b="1"/>
              <a:t>Upwork Job Market Analysis &amp; </a:t>
            </a:r>
            <a:r>
              <a:rPr lang="en-US" b="1" err="1"/>
              <a:t>Recommedation</a:t>
            </a:r>
            <a:r>
              <a:rPr lang="en-US" b="1"/>
              <a:t> System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06644-E4B9-1729-639E-CA4AA1EF0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56D9E2B-16BC-4894-8351-1F898ABA4382}" type="datetime1"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0914B-C757-6CE6-3F98-538FB1FB4A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FB32E-F731-7B30-AEE0-24670E836AE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23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FFBB-D3DE-1D39-5E78-5149FE79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/>
              <a:t>Internship Details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E08D6D-10AD-B4E9-9CA2-695905B9EA5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613D158-AB30-4269-B296-23B155F9F9A9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06A94-483E-9F8C-9F26-CC940FFEE9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AAED9-B493-94D3-689B-69BC23F818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D215D-EB00-5F1C-98FE-C3A256247F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2800"/>
              <a:t>Data science Internship project- 8(</a:t>
            </a:r>
            <a:r>
              <a:rPr lang="en-US" sz="2800" err="1"/>
              <a:t>Nexthike</a:t>
            </a:r>
            <a:r>
              <a:rPr lang="en-US" sz="2800"/>
              <a:t>)</a:t>
            </a:r>
          </a:p>
          <a:p>
            <a:pPr marL="285750" indent="-285750">
              <a:buChar char="•"/>
            </a:pPr>
            <a:r>
              <a:rPr lang="en-US" sz="2800"/>
              <a:t>Name – Shweta </a:t>
            </a:r>
            <a:r>
              <a:rPr lang="en-US" sz="2800" err="1"/>
              <a:t>singh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159368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EEBA-3E6C-B6B7-D65B-83F94DCB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/>
              <a:t>Project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4FEFD-6B1B-EAC7-B1A9-E310DDA4E6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241C6A6-B569-4AEA-9C9A-4E7454102E22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A6EAD-AE9D-E885-4B5E-3B90274E95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8897C-B791-46CC-EF19-9564CE9158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36A75-F4F3-7CBD-3D49-C9D517C92C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2800"/>
              <a:t>Need to analyze job market trends and build a recommendation system</a:t>
            </a:r>
          </a:p>
        </p:txBody>
      </p:sp>
    </p:spTree>
    <p:extLst>
      <p:ext uri="{BB962C8B-B14F-4D97-AF65-F5344CB8AC3E}">
        <p14:creationId xmlns:p14="http://schemas.microsoft.com/office/powerpoint/2010/main" val="5784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2796-10D0-6CC3-430C-4A804DB87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/>
              <a:t>Project Objective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34F1A5-693F-D88E-BF87-5687117615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038F71-098C-4650-B3A8-2739AFFEAE3F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6C975-7EAE-7380-6238-EB6206DD4A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C9437F-1A1E-8182-CE6D-5DC663EE2E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18120-F623-084B-FEA2-EE1BE6DB21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sz="2800"/>
              <a:t>Analyze trend, salaries, countries and create an interactive dashboard using </a:t>
            </a:r>
            <a:r>
              <a:rPr lang="en-US" sz="2800" err="1"/>
              <a:t>Stremlit</a:t>
            </a:r>
          </a:p>
        </p:txBody>
      </p:sp>
    </p:spTree>
    <p:extLst>
      <p:ext uri="{BB962C8B-B14F-4D97-AF65-F5344CB8AC3E}">
        <p14:creationId xmlns:p14="http://schemas.microsoft.com/office/powerpoint/2010/main" val="43673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DD82-9273-E754-2B4A-C2B6FA58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/>
              <a:t>Dataset Overview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78810-DAFE-B952-47EB-5E31216EA9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CFD8C72-86DA-48AE-9261-8F3FE4F9A916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FA6DB-7E0E-DC60-0172-15496D91BF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B14A3-F11B-F8F4-32D9-0F208C59157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68EFEE-B276-391E-DEAB-DACEA74D8F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4472682" cy="4389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US" sz="2800">
                <a:ea typeface="+mn-lt"/>
                <a:cs typeface="+mn-lt"/>
              </a:rPr>
              <a:t>    244,828 Job Postings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2F1399-8CB1-0DAD-3927-3AD82ABB4B88}"/>
              </a:ext>
            </a:extLst>
          </p:cNvPr>
          <p:cNvSpPr txBox="1"/>
          <p:nvPr/>
        </p:nvSpPr>
        <p:spPr>
          <a:xfrm>
            <a:off x="5318760" y="1859279"/>
            <a:ext cx="67818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Dataset Columns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• </a:t>
            </a:r>
            <a:r>
              <a:rPr lang="en-US" sz="2000">
                <a:latin typeface="Consolas"/>
              </a:rPr>
              <a:t>title</a:t>
            </a:r>
            <a:r>
              <a:rPr lang="en-US" sz="2000">
                <a:ea typeface="+mn-lt"/>
                <a:cs typeface="+mn-lt"/>
              </a:rPr>
              <a:t> – Job title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</a:t>
            </a:r>
            <a:r>
              <a:rPr lang="en-US" sz="2000">
                <a:latin typeface="Consolas"/>
              </a:rPr>
              <a:t>link</a:t>
            </a:r>
            <a:r>
              <a:rPr lang="en-US" sz="2000">
                <a:ea typeface="+mn-lt"/>
                <a:cs typeface="+mn-lt"/>
              </a:rPr>
              <a:t> – Job posting URL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</a:t>
            </a:r>
            <a:r>
              <a:rPr lang="en-US" sz="2000" err="1">
                <a:latin typeface="Consolas"/>
              </a:rPr>
              <a:t>published_date</a:t>
            </a:r>
            <a:r>
              <a:rPr lang="en-US" sz="2000">
                <a:ea typeface="+mn-lt"/>
                <a:cs typeface="+mn-lt"/>
              </a:rPr>
              <a:t> – Date and time of posting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</a:t>
            </a:r>
            <a:r>
              <a:rPr lang="en-US" sz="2000" err="1">
                <a:latin typeface="Consolas"/>
              </a:rPr>
              <a:t>is_hourly</a:t>
            </a:r>
            <a:r>
              <a:rPr lang="en-US" sz="2000">
                <a:ea typeface="+mn-lt"/>
                <a:cs typeface="+mn-lt"/>
              </a:rPr>
              <a:t> – Hourly or fixed-price job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</a:t>
            </a:r>
            <a:r>
              <a:rPr lang="en-US" sz="2000" err="1">
                <a:latin typeface="Consolas"/>
              </a:rPr>
              <a:t>hourly_low</a:t>
            </a:r>
            <a:r>
              <a:rPr lang="en-US" sz="2000">
                <a:ea typeface="+mn-lt"/>
                <a:cs typeface="+mn-lt"/>
              </a:rPr>
              <a:t> – Minimum hourly rate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</a:t>
            </a:r>
            <a:r>
              <a:rPr lang="en-US" sz="2000" err="1">
                <a:latin typeface="Consolas"/>
              </a:rPr>
              <a:t>hourly_high</a:t>
            </a:r>
            <a:r>
              <a:rPr lang="en-US" sz="2000">
                <a:ea typeface="+mn-lt"/>
                <a:cs typeface="+mn-lt"/>
              </a:rPr>
              <a:t> – Maximum hourly rate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</a:t>
            </a:r>
            <a:r>
              <a:rPr lang="en-US" sz="2000">
                <a:latin typeface="Consolas"/>
              </a:rPr>
              <a:t>budget</a:t>
            </a:r>
            <a:r>
              <a:rPr lang="en-US" sz="2000">
                <a:ea typeface="+mn-lt"/>
                <a:cs typeface="+mn-lt"/>
              </a:rPr>
              <a:t> – Fixed-price project budget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</a:t>
            </a:r>
            <a:r>
              <a:rPr lang="en-US" sz="2000">
                <a:latin typeface="Consolas"/>
              </a:rPr>
              <a:t>country</a:t>
            </a:r>
            <a:r>
              <a:rPr lang="en-US" sz="2000">
                <a:ea typeface="+mn-lt"/>
                <a:cs typeface="+mn-lt"/>
              </a:rPr>
              <a:t> – Client country</a:t>
            </a:r>
            <a:endParaRPr lang="en-US" sz="2000"/>
          </a:p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0CF95-3367-1E42-44CD-DF19ED9B1963}"/>
              </a:ext>
            </a:extLst>
          </p:cNvPr>
          <p:cNvSpPr txBox="1"/>
          <p:nvPr/>
        </p:nvSpPr>
        <p:spPr>
          <a:xfrm>
            <a:off x="640080" y="5501640"/>
            <a:ext cx="93726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Tools:</a:t>
            </a:r>
            <a:r>
              <a:rPr lang="en-US" sz="2000">
                <a:ea typeface="+mn-lt"/>
                <a:cs typeface="+mn-lt"/>
              </a:rPr>
              <a:t> Python • Pandas • Google </a:t>
            </a:r>
            <a:r>
              <a:rPr lang="en-US" sz="2000" err="1">
                <a:ea typeface="+mn-lt"/>
                <a:cs typeface="+mn-lt"/>
              </a:rPr>
              <a:t>Colab</a:t>
            </a:r>
            <a:endParaRPr lang="en-US" sz="2000" err="1"/>
          </a:p>
        </p:txBody>
      </p:sp>
    </p:spTree>
    <p:extLst>
      <p:ext uri="{BB962C8B-B14F-4D97-AF65-F5344CB8AC3E}">
        <p14:creationId xmlns:p14="http://schemas.microsoft.com/office/powerpoint/2010/main" val="199815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222B-CC3A-C0E8-5135-980A7AAE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>
                <a:ea typeface="+mj-lt"/>
                <a:cs typeface="+mj-lt"/>
              </a:rPr>
              <a:t>Data Cleaning</a:t>
            </a:r>
            <a:endParaRPr lang="en-US" sz="32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DFDC4-06BB-79DF-482E-A5F94320E2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BDCDA22-B2AD-40C3-8BA1-8BAAF9BA92F9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D3A15-A9E0-04B9-4791-DC33AF13BA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25B92-A069-9F49-4512-34F4EE3BEC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A36595-F8D3-6951-1E70-B405AFDB00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Removed </a:t>
            </a:r>
            <a:r>
              <a:rPr lang="en-US" sz="2000" b="1">
                <a:ea typeface="+mn-lt"/>
                <a:cs typeface="+mn-lt"/>
              </a:rPr>
              <a:t>1 record with a missing job title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Replaced </a:t>
            </a:r>
            <a:r>
              <a:rPr lang="en-US" sz="2000" b="1">
                <a:ea typeface="+mn-lt"/>
                <a:cs typeface="+mn-lt"/>
              </a:rPr>
              <a:t>missing country values with “Unknown”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Checked missing values in </a:t>
            </a:r>
            <a:r>
              <a:rPr lang="en-US" sz="2000" b="1">
                <a:ea typeface="+mn-lt"/>
                <a:cs typeface="+mn-lt"/>
              </a:rPr>
              <a:t>hourly rates and budget</a:t>
            </a:r>
            <a:r>
              <a:rPr lang="en-US" sz="2000">
                <a:ea typeface="+mn-lt"/>
                <a:cs typeface="+mn-lt"/>
              </a:rPr>
              <a:t> fields.</a:t>
            </a:r>
          </a:p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Kept missing hourly/budget values where appropriate because jobs can be either </a:t>
            </a:r>
            <a:r>
              <a:rPr lang="en-US" sz="2000" b="1">
                <a:ea typeface="+mn-lt"/>
                <a:cs typeface="+mn-lt"/>
              </a:rPr>
              <a:t>hourly or fixed-price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Created a new feature: </a:t>
            </a:r>
            <a:r>
              <a:rPr lang="en-US" sz="2000" b="1">
                <a:ea typeface="+mn-lt"/>
                <a:cs typeface="+mn-lt"/>
              </a:rPr>
              <a:t>Average Hourly Rate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Converted </a:t>
            </a:r>
            <a:r>
              <a:rPr lang="en-US" sz="2000" err="1">
                <a:latin typeface="Consolas"/>
              </a:rPr>
              <a:t>published_date</a:t>
            </a:r>
            <a:r>
              <a:rPr lang="en-US" sz="2000">
                <a:ea typeface="+mn-lt"/>
                <a:cs typeface="+mn-lt"/>
              </a:rPr>
              <a:t> into a date format for </a:t>
            </a:r>
            <a:r>
              <a:rPr lang="en-US" sz="2000" b="1">
                <a:ea typeface="+mn-lt"/>
                <a:cs typeface="+mn-lt"/>
              </a:rPr>
              <a:t>time-series analysis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Standardized job titles by removing extra spaces and applying consistent capitalization.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8689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DDEB-A35F-FE04-5080-C7C1F4B6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92" y="397162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/>
              <a:t>Methodology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2C508-4E48-D657-4285-E0A295038A7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611CBB-02D8-49F8-A0E7-88B2EBEB0556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B0D31-21B5-6EA3-E5C9-9C89772935A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26678-20BD-B40A-C564-0F6AA6E28F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CB086A-02BE-1C8E-0D31-3BD27B5FF1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8872" y="1341120"/>
            <a:ext cx="11494008" cy="52933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Data Collection</a:t>
            </a:r>
            <a:r>
              <a:rPr lang="en-US" sz="1800">
                <a:ea typeface="+mn-lt"/>
                <a:cs typeface="+mn-lt"/>
              </a:rPr>
              <a:t>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Load the Upwork job-posting dataset into Google </a:t>
            </a:r>
            <a:r>
              <a:rPr lang="en-US" sz="1800" err="1">
                <a:ea typeface="+mn-lt"/>
                <a:cs typeface="+mn-lt"/>
              </a:rPr>
              <a:t>Colab</a:t>
            </a:r>
            <a:r>
              <a:rPr lang="en-US" sz="1800">
                <a:ea typeface="+mn-lt"/>
                <a:cs typeface="+mn-lt"/>
              </a:rPr>
              <a:t> using Python and Pandas.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Data Cleaning &amp; Preprocessing</a:t>
            </a:r>
            <a:r>
              <a:rPr lang="en-US" sz="1800">
                <a:ea typeface="+mn-lt"/>
                <a:cs typeface="+mn-lt"/>
              </a:rPr>
              <a:t>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Handle missing values, standardize job titles, process dates, and prepare relevant features.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Exploratory Data Analysis</a:t>
            </a:r>
            <a:r>
              <a:rPr lang="en-US" sz="1800">
                <a:ea typeface="+mn-lt"/>
                <a:cs typeface="+mn-lt"/>
              </a:rPr>
              <a:t>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Analyze hiring countries, job types, job titles, salary/rate patterns, and posting trends.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Data Visualization</a:t>
            </a:r>
            <a:r>
              <a:rPr lang="en-US" sz="1800">
                <a:ea typeface="+mn-lt"/>
                <a:cs typeface="+mn-lt"/>
              </a:rPr>
              <a:t>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Create charts to identify important patterns and trends in the job market.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Recommendation System</a:t>
            </a:r>
            <a:r>
              <a:rPr lang="en-US" sz="1800">
                <a:ea typeface="+mn-lt"/>
                <a:cs typeface="+mn-lt"/>
              </a:rPr>
              <a:t>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Filter jobs based on user-selected </a:t>
            </a:r>
            <a:r>
              <a:rPr lang="en-US" sz="1800" b="1">
                <a:ea typeface="+mn-lt"/>
                <a:cs typeface="+mn-lt"/>
              </a:rPr>
              <a:t>job role, country, and payment type</a:t>
            </a:r>
            <a:r>
              <a:rPr lang="en-US" sz="1800">
                <a:ea typeface="+mn-lt"/>
                <a:cs typeface="+mn-lt"/>
              </a:rPr>
              <a:t>.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 err="1">
                <a:ea typeface="+mn-lt"/>
                <a:cs typeface="+mn-lt"/>
              </a:rPr>
              <a:t>Streamlit</a:t>
            </a:r>
            <a:r>
              <a:rPr lang="en-US" sz="1800" b="1">
                <a:ea typeface="+mn-lt"/>
                <a:cs typeface="+mn-lt"/>
              </a:rPr>
              <a:t> Dashboard</a:t>
            </a:r>
            <a:r>
              <a:rPr lang="en-US" sz="1800">
                <a:ea typeface="+mn-lt"/>
                <a:cs typeface="+mn-lt"/>
              </a:rPr>
              <a:t> 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Present KPIs, visualizations, and recommended job postings with direct links.</a:t>
            </a:r>
            <a:endParaRPr lang="en-US" sz="1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11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1D84-959F-EC7C-C079-41EFFF01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552" y="922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/>
              <a:t>Top Hiring Countries 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D9EF3-1748-F4B6-4B08-8BFD1E2AA9B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C96158-1B84-4E56-9DD0-A63A139EC249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A51BC-F180-7C7D-2FBE-B3459C651E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E0F37-7389-4849-CCB8-CFD26DA7E8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8</a:t>
            </a:fld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399A528-B358-D51B-683C-12CC8EBA066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0767" y="733813"/>
            <a:ext cx="11940759" cy="48657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EBFBE9-D208-2172-1823-7AA40B84E229}"/>
              </a:ext>
            </a:extLst>
          </p:cNvPr>
          <p:cNvSpPr txBox="1"/>
          <p:nvPr/>
        </p:nvSpPr>
        <p:spPr>
          <a:xfrm>
            <a:off x="103322" y="5592304"/>
            <a:ext cx="1180454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United States is the dominant hiring market in the dataset, while the presence of multiple countries shows strong international demand for remote and freelance talent.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United Kingdom</a:t>
            </a:r>
            <a:r>
              <a:rPr lang="en-US">
                <a:ea typeface="+mn-lt"/>
                <a:cs typeface="+mn-lt"/>
              </a:rPr>
              <a:t> is the second-largest hiring market.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3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04D89-65F1-0301-57E8-B71433E3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32" y="214282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/>
              <a:t>Hourly vs Fixed price Jobs</a:t>
            </a:r>
            <a:endParaRPr lang="en-US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21197-F07B-CA8C-BD9E-5854590D673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7BBAC6-9770-464E-8449-A155394A0191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37138-EDFA-4BCD-3C03-B96592CBC9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6134E-E3D3-79D5-1844-A944ED6C85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9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992843-251A-1AAB-DE0E-1C5CC2FF00B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6208" y="944542"/>
            <a:ext cx="12181840" cy="45845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32887-E73C-F4F0-7897-2EA6A4D68081}"/>
              </a:ext>
            </a:extLst>
          </p:cNvPr>
          <p:cNvSpPr txBox="1"/>
          <p:nvPr/>
        </p:nvSpPr>
        <p:spPr>
          <a:xfrm>
            <a:off x="216804" y="5697004"/>
            <a:ext cx="11692954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+mn-lt"/>
                <a:cs typeface="+mn-lt"/>
              </a:rPr>
              <a:t>57.6%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 Hourly Jobs</a:t>
            </a:r>
            <a:endParaRPr lang="en-US" sz="1100"/>
          </a:p>
          <a:p>
            <a:r>
              <a:rPr lang="en-US" sz="1100" b="1">
                <a:ea typeface="+mn-lt"/>
                <a:cs typeface="+mn-lt"/>
              </a:rPr>
              <a:t>42.4%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 Fixed-Price Jobs</a:t>
            </a:r>
            <a:endParaRPr lang="en-US" sz="1100"/>
          </a:p>
          <a:p>
            <a:r>
              <a:rPr lang="en-US" sz="1100" b="1">
                <a:ea typeface="+mn-lt"/>
                <a:cs typeface="+mn-lt"/>
              </a:rPr>
              <a:t>Insight:</a:t>
            </a:r>
            <a:br>
              <a:rPr lang="en-US" sz="1100" b="1">
                <a:ea typeface="+mn-lt"/>
                <a:cs typeface="+mn-lt"/>
              </a:rPr>
            </a:br>
            <a:r>
              <a:rPr lang="en-US" sz="1100" b="1">
                <a:ea typeface="+mn-lt"/>
                <a:cs typeface="+mn-lt"/>
              </a:rPr>
              <a:t> Flexible hourly work is more prevalent in the dataset.</a:t>
            </a:r>
            <a:endParaRPr lang="en-US" sz="1100"/>
          </a:p>
          <a:p>
            <a:pPr algn="l"/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40432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2369-148C-DEC8-86D0-1F6877204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50" y="17791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>
                <a:ea typeface="+mj-lt"/>
                <a:cs typeface="+mj-lt"/>
              </a:rPr>
              <a:t>Most Demanded Job Roles</a:t>
            </a:r>
            <a:endParaRPr lang="en-US" sz="32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C7195-2646-4F6A-200D-ADE97A13CDE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0A919FE-55F2-4761-8F6B-D4D136988DA3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D2D19-F819-DD67-E1CA-120C38AC0B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B4D98-7B30-44E5-D045-938956972C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95AC77-95E1-7DA4-00DA-DB9506C14DF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622" y="752115"/>
            <a:ext cx="12185735" cy="47947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B952B7-757A-F46A-9147-87522E016227}"/>
              </a:ext>
            </a:extLst>
          </p:cNvPr>
          <p:cNvSpPr txBox="1"/>
          <p:nvPr/>
        </p:nvSpPr>
        <p:spPr>
          <a:xfrm>
            <a:off x="256492" y="5557999"/>
            <a:ext cx="116433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Social Media Manager</a:t>
            </a:r>
            <a:r>
              <a:rPr lang="en-US">
                <a:ea typeface="+mn-lt"/>
                <a:cs typeface="+mn-lt"/>
              </a:rPr>
              <a:t> is the most frequently posted role.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Creative services such as </a:t>
            </a:r>
            <a:r>
              <a:rPr lang="en-US" b="1">
                <a:ea typeface="+mn-lt"/>
                <a:cs typeface="+mn-lt"/>
              </a:rPr>
              <a:t>logo design, video editing, and graphic design</a:t>
            </a:r>
            <a:r>
              <a:rPr lang="en-US">
                <a:ea typeface="+mn-lt"/>
                <a:cs typeface="+mn-lt"/>
              </a:rPr>
              <a:t> show strong demand.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Virtual Assistant</a:t>
            </a:r>
            <a:r>
              <a:rPr lang="en-US">
                <a:ea typeface="+mn-lt"/>
                <a:cs typeface="+mn-lt"/>
              </a:rPr>
              <a:t> is another highly demanded remote role.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results indicate strong demand for </a:t>
            </a:r>
            <a:r>
              <a:rPr lang="en-US" b="1">
                <a:ea typeface="+mn-lt"/>
                <a:cs typeface="+mn-lt"/>
              </a:rPr>
              <a:t>digital marketing, creative, and online support skills</a:t>
            </a:r>
            <a:r>
              <a:rPr lang="en-US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207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41F3-0B69-875F-8833-9288B510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95" y="3414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>
                <a:ea typeface="+mj-lt"/>
                <a:cs typeface="+mj-lt"/>
              </a:rPr>
              <a:t>Salary Analysis by Country</a:t>
            </a:r>
            <a:endParaRPr lang="en-US" sz="32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488AF-028F-3D1E-72AF-FC0103DB7F8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459863-CE61-49A0-AAD9-74A3E1788ECC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FE483-2691-1BE0-12AA-EFDFD2003A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D1783-78B4-814F-D195-CBEA9257CD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11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F951ED-8E80-7DC5-4720-8883961B5C4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89" y="569274"/>
            <a:ext cx="12048227" cy="49735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5DFD40-A326-E580-0BFD-6181CD6FF033}"/>
              </a:ext>
            </a:extLst>
          </p:cNvPr>
          <p:cNvSpPr txBox="1"/>
          <p:nvPr/>
        </p:nvSpPr>
        <p:spPr>
          <a:xfrm>
            <a:off x="148949" y="5549373"/>
            <a:ext cx="120396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Average hourly rates were calculated using the minimum and maximum hourly rates available for each job.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analysis shows </a:t>
            </a:r>
            <a:r>
              <a:rPr lang="en-US" b="1">
                <a:ea typeface="+mn-lt"/>
                <a:cs typeface="+mn-lt"/>
              </a:rPr>
              <a:t>s</a:t>
            </a:r>
            <a:r>
              <a:rPr lang="en-US">
                <a:ea typeface="+mn-lt"/>
                <a:cs typeface="+mn-lt"/>
              </a:rPr>
              <a:t>ignificant differences in average hourly rates across countries.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These differences may reflect variations in market demand, project type, skills, and hiring patterns.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analysis can help freelancers identify potentially higher-paying markets.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94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F666-472C-0B69-1EC1-79BF1B4C9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7791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>
                <a:ea typeface="+mj-lt"/>
                <a:cs typeface="+mj-lt"/>
              </a:rPr>
              <a:t>Monthly Job Postings Trend — 2024</a:t>
            </a:r>
            <a:endParaRPr lang="en-US" sz="32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EEFF4-D174-E6F5-1705-1FA1F5D9054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DA04EB-E046-4609-81A8-D112E0A4F326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CC561-D65C-A04F-9D28-0F0E93AA6F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EA5DC-D7E5-3822-3516-A6441DDC99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2CB844-7686-7DAD-88DC-F209C76BC20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6754" y="743927"/>
            <a:ext cx="12033849" cy="44085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AA3EB8-26AA-DF1B-F834-FAB0EDFB0E43}"/>
              </a:ext>
            </a:extLst>
          </p:cNvPr>
          <p:cNvSpPr txBox="1"/>
          <p:nvPr/>
        </p:nvSpPr>
        <p:spPr>
          <a:xfrm>
            <a:off x="91440" y="5298632"/>
            <a:ext cx="1200912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dirty="0" err="1">
                <a:latin typeface="Consolas"/>
              </a:rPr>
              <a:t>published_date</a:t>
            </a:r>
            <a:r>
              <a:rPr lang="en-US" dirty="0">
                <a:ea typeface="+mn-lt"/>
                <a:cs typeface="+mn-lt"/>
              </a:rPr>
              <a:t> column was converted into a date-time format.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Job postings were grouped by month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to analyze hiring activity over time.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dataset shows an </a:t>
            </a:r>
            <a:r>
              <a:rPr lang="en-US" b="1">
                <a:ea typeface="+mn-lt"/>
                <a:cs typeface="+mn-lt"/>
              </a:rPr>
              <a:t>upward trend in job postings from January to March 2024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March 2024</a:t>
            </a:r>
            <a:r>
              <a:rPr lang="en-US">
                <a:ea typeface="+mn-lt"/>
                <a:cs typeface="+mn-lt"/>
              </a:rPr>
              <a:t> recorded the highest posting activity in the analyzed period.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trend suggests increasing demand for freelance and remote work during the observed period.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2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4E36-0D5E-BB46-54F6-E0CED042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96" y="-154737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 err="1">
                <a:ea typeface="+mj-lt"/>
                <a:cs typeface="+mj-lt"/>
              </a:rPr>
              <a:t>Streamlit</a:t>
            </a:r>
            <a:r>
              <a:rPr lang="en-US" sz="3200" b="1" dirty="0">
                <a:ea typeface="+mj-lt"/>
                <a:cs typeface="+mj-lt"/>
              </a:rPr>
              <a:t> Dashboard Overview</a:t>
            </a:r>
            <a:endParaRPr lang="en-US" sz="32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6FEC2-07C4-A10D-778D-374E88BBD1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B210745-0AE7-4FFC-A128-B05D52371D69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D39E4-BDE4-C361-C0E8-2F233779D08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348A3-09A4-3D91-AD29-0530E04BFF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484678-7C77-5698-A664-9CD15B1291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90" y="715957"/>
            <a:ext cx="6929886" cy="42057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B4C8F1-61F8-95E0-FCBB-A8CB77627969}"/>
              </a:ext>
            </a:extLst>
          </p:cNvPr>
          <p:cNvSpPr txBox="1"/>
          <p:nvPr/>
        </p:nvSpPr>
        <p:spPr>
          <a:xfrm>
            <a:off x="7284720" y="563880"/>
            <a:ext cx="473964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Main Features: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KPI Cards</a:t>
            </a:r>
            <a:r>
              <a:rPr lang="en-US">
                <a:ea typeface="+mn-lt"/>
                <a:cs typeface="+mn-lt"/>
              </a:rPr>
              <a:t> – Total Jobs, Countries, Hourly Jobs, and Fixed-Price Jobs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Hiring Market Analysis</a:t>
            </a:r>
            <a:r>
              <a:rPr lang="en-US">
                <a:ea typeface="+mn-lt"/>
                <a:cs typeface="+mn-lt"/>
              </a:rPr>
              <a:t> – Top hiring countries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Job Type Analysis</a:t>
            </a:r>
            <a:r>
              <a:rPr lang="en-US">
                <a:ea typeface="+mn-lt"/>
                <a:cs typeface="+mn-lt"/>
              </a:rPr>
              <a:t> – Hourly vs Fixed-Price opportunities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Salary Analysis</a:t>
            </a:r>
            <a:r>
              <a:rPr lang="en-US">
                <a:ea typeface="+mn-lt"/>
                <a:cs typeface="+mn-lt"/>
              </a:rPr>
              <a:t> – Average hourly rates by country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Time-Series Analysis</a:t>
            </a:r>
            <a:r>
              <a:rPr lang="en-US">
                <a:ea typeface="+mn-lt"/>
                <a:cs typeface="+mn-lt"/>
              </a:rPr>
              <a:t> – Job posting trends over time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Job Recommendation System</a:t>
            </a:r>
            <a:r>
              <a:rPr lang="en-US">
                <a:ea typeface="+mn-lt"/>
                <a:cs typeface="+mn-lt"/>
              </a:rPr>
              <a:t> – Search by role/skill and filter by country and payment type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Direct Job Links</a:t>
            </a:r>
            <a:r>
              <a:rPr lang="en-US">
                <a:ea typeface="+mn-lt"/>
                <a:cs typeface="+mn-lt"/>
              </a:rPr>
              <a:t> – Users can open the original job posting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EDE3A-B0FB-E9E0-1185-65EF3E29DE89}"/>
              </a:ext>
            </a:extLst>
          </p:cNvPr>
          <p:cNvSpPr txBox="1"/>
          <p:nvPr/>
        </p:nvSpPr>
        <p:spPr>
          <a:xfrm>
            <a:off x="1274697" y="5922609"/>
            <a:ext cx="11780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Developed using Python, Pandas and </a:t>
            </a: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 in Google </a:t>
            </a:r>
            <a:r>
              <a:rPr lang="en-US" dirty="0" err="1">
                <a:ea typeface="+mn-lt"/>
                <a:cs typeface="+mn-lt"/>
              </a:rPr>
              <a:t>Colab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67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2BED-9973-7B83-2C76-D5B57FA25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54" y="17791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>
                <a:ea typeface="+mj-lt"/>
                <a:cs typeface="+mj-lt"/>
              </a:rPr>
              <a:t>KPI Cards Dashboard</a:t>
            </a:r>
            <a:endParaRPr lang="en-US" sz="32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8E110-680B-375C-AAFA-ACB99D101D6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578F7A3-F4D9-4C25-8B05-A9F66F7D8744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FD225-9805-9D1B-B4C2-B4180213EB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2787C-FEE2-5AB2-00CD-6D6116DB1EA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C037EC-5B01-CCB0-C443-EBBBDC6C273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25494" y="751182"/>
            <a:ext cx="5315309" cy="5587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D2B02B-3F36-B1B8-4CCD-13F438AAEC66}"/>
              </a:ext>
            </a:extLst>
          </p:cNvPr>
          <p:cNvSpPr txBox="1"/>
          <p:nvPr/>
        </p:nvSpPr>
        <p:spPr>
          <a:xfrm>
            <a:off x="6553488" y="2694892"/>
            <a:ext cx="466344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Purpose: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KPI section enables users to understand the overall job market before exploring detailed charts and recommendations.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524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B103-BB51-679A-B59C-6E83F4E4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63" y="3414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>
                <a:ea typeface="+mj-lt"/>
                <a:cs typeface="+mj-lt"/>
              </a:rPr>
              <a:t>Job Recommendation System</a:t>
            </a:r>
            <a:endParaRPr lang="en-US" sz="32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08E01-D694-10F8-675A-FAAE5DB5C7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156A34F-113F-4921-9F9A-249B413410C7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5FD09-F6EF-884C-D476-1A0846BFC7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6C225-7FF0-30E7-8C57-6437F4AA6E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15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38E16D-6900-C553-7A2B-BBEEA9C8169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75531" y="569059"/>
            <a:ext cx="7228066" cy="3737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ED9C84-6FE7-B27E-F308-6DD7C220717C}"/>
              </a:ext>
            </a:extLst>
          </p:cNvPr>
          <p:cNvSpPr txBox="1"/>
          <p:nvPr/>
        </p:nvSpPr>
        <p:spPr>
          <a:xfrm>
            <a:off x="7894320" y="548640"/>
            <a:ext cx="409956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Enter Job Role / Skill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Example: Data Engineer, Python, Video Editor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Select Country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Users can choose a specific country or view jobs from all countries.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Select Job Type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Hourly 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Fixed Price 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All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View Matching Jobs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Job title 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Country 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Hourly rate or project budget 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Original job posting link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1E8BB-FFAF-F69E-81A7-225487081FD7}"/>
              </a:ext>
            </a:extLst>
          </p:cNvPr>
          <p:cNvSpPr txBox="1"/>
          <p:nvPr/>
        </p:nvSpPr>
        <p:spPr>
          <a:xfrm>
            <a:off x="1530038" y="6285206"/>
            <a:ext cx="8610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Input → Filter → Match Jobs → View Job Link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96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DDCE-6609-A51B-DE73-AEC928B3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978" y="3414"/>
            <a:ext cx="9830017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>
                <a:ea typeface="+mj-lt"/>
                <a:cs typeface="+mj-lt"/>
              </a:rPr>
              <a:t>Technologies Used</a:t>
            </a:r>
            <a:endParaRPr lang="en-US" sz="3200" b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8DDE3-BF73-17DC-5A4E-D61626CD9C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D24B42C-C167-46FA-B4B3-908E5418F41B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1302E-E70C-966B-39F4-159D5950994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EAC5E-F314-1C3D-6757-BEF7C96228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10DFB-2962-7A32-35DE-078B7B1C11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ea typeface="+mn-lt"/>
                <a:cs typeface="+mn-lt"/>
              </a:rPr>
              <a:t>Python and Pandas were used for data analysis, Matplotlib for visualization, and </a:t>
            </a:r>
            <a:r>
              <a:rPr lang="en-US" sz="2800" err="1">
                <a:ea typeface="+mn-lt"/>
                <a:cs typeface="+mn-lt"/>
              </a:rPr>
              <a:t>Streamlit</a:t>
            </a:r>
            <a:r>
              <a:rPr lang="en-US" sz="2800">
                <a:ea typeface="+mn-lt"/>
                <a:cs typeface="+mn-lt"/>
              </a:rPr>
              <a:t> for developing the interactive dashboard and recommendation system.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798675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55A3-2731-38D7-212C-6214AF3D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1714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CCA3-DEA4-A63A-4C0A-F590BFE8EE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D0D256-5A30-4E55-A6B4-F97984563AC1}" type="datetime1"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1B21E-70D9-6E7A-1A57-6B1D776339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1774C-6E02-3018-49A8-0E6EE1865B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636F4-BFE3-5726-6306-25882B0565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73" y="1450963"/>
            <a:ext cx="11402568" cy="43891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THANK YOU</a:t>
            </a:r>
            <a:r>
              <a:rPr lang="en-US" sz="4800"/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85900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Dark gradient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Dark gradi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6C0E157E-BBF9-45FB-91B2-9EEA263F6260}" vid="{4AA688F4-4384-4824-9BC0-914EFB7BEE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Dark gradient</vt:lpstr>
      <vt:lpstr>   Upwork Job Market Analysis &amp; Recommedation System</vt:lpstr>
      <vt:lpstr>Internship Details</vt:lpstr>
      <vt:lpstr>Project Statement</vt:lpstr>
      <vt:lpstr>Project Objective</vt:lpstr>
      <vt:lpstr>Dataset Overview</vt:lpstr>
      <vt:lpstr>Data Cleaning</vt:lpstr>
      <vt:lpstr>Methodology</vt:lpstr>
      <vt:lpstr>Top Hiring Countries </vt:lpstr>
      <vt:lpstr>Hourly vs Fixed price Jobs</vt:lpstr>
      <vt:lpstr>Most Demanded Job Roles</vt:lpstr>
      <vt:lpstr>Salary Analysis by Country</vt:lpstr>
      <vt:lpstr>Monthly Job Postings Trend — 2024</vt:lpstr>
      <vt:lpstr>Streamlit Dashboard Overview</vt:lpstr>
      <vt:lpstr>KPI Cards Dashboard</vt:lpstr>
      <vt:lpstr>Job Recommendation System</vt:lpstr>
      <vt:lpstr>Technologies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151</cp:revision>
  <dcterms:created xsi:type="dcterms:W3CDTF">2026-08-15T22:04:54Z</dcterms:created>
  <dcterms:modified xsi:type="dcterms:W3CDTF">2026-08-16T19:53:03Z</dcterms:modified>
</cp:coreProperties>
</file>